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N0Z9+x8Ae0FhmXgllv6D3QteOS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Yanbo Zha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29T01:28:08.044">
    <p:pos x="6000" y="0"/>
    <p:text>1-4 long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5CKBxg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22960" y="1005840"/>
            <a:ext cx="10515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NBA Draft Position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&amp; Second Contract Salary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822960" y="3063240"/>
            <a:ext cx="3474720" cy="4572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22960" y="3246120"/>
            <a:ext cx="10515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DSO 579 — Advanced Sports Performance Analytics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822960" y="365760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Spring 2026  ·  Xinyu Long, Yanbo Zhao</a:t>
            </a:r>
            <a:endParaRPr b="0" i="0" sz="1700" u="none" cap="none" strike="noStrike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22960" y="620877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264 Players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22960" y="657453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Sample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3566160" y="620877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2010–2021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3566160" y="657453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Draft Years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6309360" y="620877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r = −0.61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6309360" y="657453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Pearson Correlation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9052560" y="620877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2.7×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9052560" y="657453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Top-5 vs Late-Round Pay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 Background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411480" y="1647748"/>
            <a:ext cx="64008" cy="36210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594360" y="1552650"/>
            <a:ext cx="97318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NBA first-round picks sign a 4-year rookie-scale contract (2 guaranteed + 2 team-option years) under the CBA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411480" y="2516428"/>
            <a:ext cx="64008" cy="36210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594360" y="2421330"/>
            <a:ext cx="97318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second contract is the most consequential financial milestone of a player's career — front offices plan cap strategy around it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411480" y="3385108"/>
            <a:ext cx="64008" cy="36210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594233" y="3290010"/>
            <a:ext cx="97318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 early draft position signal long-term financial value, or does on-court production override pedigree at negotiation time?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411480" y="4253788"/>
            <a:ext cx="64008" cy="36210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594233" y="4158690"/>
            <a:ext cx="973202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27% of first-round picks are never matched to a second contract — waived, went overseas, or did not survive the rookie period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411480" y="5122468"/>
            <a:ext cx="64008" cy="36210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594360" y="5027370"/>
            <a:ext cx="97318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Data: 264 matched first-round picks (2010–2021)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Questions &amp; Hypotheses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411480" y="1325880"/>
            <a:ext cx="11365992" cy="13716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11480" y="1325880"/>
            <a:ext cx="73152" cy="137160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40080" y="141732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Primary RQ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40080" y="173736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 a player's overall draft pick number predict the size of their second NBA contract,</a:t>
            </a:r>
            <a:br>
              <a:rPr b="0" i="1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controlling for rookie-era performance?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411480" y="2907792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H₁  (Alternative Hypothesis)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411480" y="3273552"/>
            <a:ext cx="5394960" cy="102412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548650" y="3337550"/>
            <a:ext cx="5120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Lower pick numbers are associated with higher second-contract salaries even after controlling for performance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6400800" y="2907792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H₀  (Null Hypothesis)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6400800" y="3273552"/>
            <a:ext cx="5394960" cy="102412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6537960" y="333756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Once on-court performance is controlled for, overall draft pick number has no meaningful additional effect on second-contract salary.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411480" y="4572000"/>
            <a:ext cx="11365992" cy="54864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411480" y="47091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Sub-RQs: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691640" y="4709160"/>
            <a:ext cx="10287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SQ1: Position effect   ·   SQ2: Performance moderation   ·   SQ3: Draft-era comparison   ·   SQ4: Player archetypes via clustering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Methods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411480" y="132588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11480" y="1719072"/>
            <a:ext cx="5577840" cy="82296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548640" y="1718428"/>
            <a:ext cx="53035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NBA Players Draft (1989–2021)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overall pick, draft year, career stats (PPG/RPG/APG/WS/BPM/VORP)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411480" y="2596896"/>
            <a:ext cx="5577840" cy="82296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548640" y="2660904"/>
            <a:ext cx="53035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NBA Player Stats &amp; Salaries (2010–2025)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annual salary, PTS/TRB/AST, Age, Position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411480" y="3547872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411480" y="3977639"/>
            <a:ext cx="822960" cy="4114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411480" y="4032503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1325880" y="4032503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overall_pick (1–30)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11480" y="4453127"/>
            <a:ext cx="822960" cy="4114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411480" y="4507991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DV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1325880" y="4507991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2nd contract salary as % of league cap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11480" y="4928615"/>
            <a:ext cx="822960" cy="4114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411480" y="4983479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Controls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1325880" y="4983479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PPG, RPG, APG, Win Shares, BPM, VORP, Age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263640" y="1280160"/>
            <a:ext cx="45720" cy="530352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446520" y="1325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Analytical Methods (ISLR-aligned)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446520" y="1783080"/>
            <a:ext cx="822960" cy="47548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6446520" y="1874519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Ch. 3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7360920" y="1764791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Multiple Linear Regression (OLS) — interpretable baseline with p-values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6446520" y="2377440"/>
            <a:ext cx="822960" cy="47548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6446520" y="246888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Ch. 8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7360920" y="2368296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Tree (max depth = 4) — captures non-linear thresholds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6446520" y="2971800"/>
            <a:ext cx="822960" cy="47548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6446520" y="306324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Ch. 8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7360920" y="3044952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 (300 trees) — variance reduction via bagging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446520" y="3566160"/>
            <a:ext cx="822960" cy="47548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6446520" y="365760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Ch. 5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7360920" y="3639312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5-Fold Cross Validation — honest model comparison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6446520" y="4160520"/>
            <a:ext cx="822960" cy="47548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6446520" y="4251959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Ch. 12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7360920" y="4233672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 Clustering (K = 4) — discover player archetypes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Descriptive Statistics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411480" y="868680"/>
            <a:ext cx="113659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 = 264 players  ·  draft years 2010–2021  ·  salary normalized to % of league cap</a:t>
            </a:r>
            <a:endParaRPr/>
          </a:p>
        </p:txBody>
      </p:sp>
      <p:pic>
        <p:nvPicPr>
          <p:cNvPr descr="p01_scatter_regression.png" id="184" name="Google Shape;1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25880"/>
            <a:ext cx="7132320" cy="4308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 txBox="1"/>
          <p:nvPr/>
        </p:nvSpPr>
        <p:spPr>
          <a:xfrm>
            <a:off x="7680960" y="13258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Mean Salary by Pick Tier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7680960" y="1737360"/>
            <a:ext cx="4343400" cy="34747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7726679" y="179222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Pick Tier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9098280" y="179222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10195560" y="179222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Median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11292840" y="179222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7680960" y="2084831"/>
            <a:ext cx="4343400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7726679" y="213969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Top 5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9098280" y="213969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8.05%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10195560" y="213969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7.99%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11292840" y="2139696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7680960" y="2432303"/>
            <a:ext cx="4343400" cy="347472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7726679" y="2487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6–10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9098280" y="248716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4.86%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10195560" y="248716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5.03%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11292840" y="248716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7680960" y="2779775"/>
            <a:ext cx="4343400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7726679" y="2834639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11–15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9098280" y="2834639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4.15%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10195560" y="2834639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4.20%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11292840" y="2834639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7680960" y="3127247"/>
            <a:ext cx="4343400" cy="347472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7726679" y="3182111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16–20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9098280" y="3182111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3.23%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10195560" y="3182111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3.43%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11292840" y="3182111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7680960" y="3474719"/>
            <a:ext cx="4343400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7726679" y="3529583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21–30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9098280" y="3529583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2.94%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10195560" y="3529583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2.96%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11292840" y="3529583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7680960" y="3931920"/>
            <a:ext cx="4343400" cy="54864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7680960" y="4069080"/>
            <a:ext cx="4343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Top-5 picks earn ~2.7× more than picks 21–30</a:t>
            </a:r>
            <a:b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(8.0% vs 2.9% of salary cap)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Salary Distribution by Pick Tier</a:t>
            </a:r>
            <a:endParaRPr/>
          </a:p>
        </p:txBody>
      </p:sp>
      <p:pic>
        <p:nvPicPr>
          <p:cNvPr descr="p02_tier_charts.png" id="224" name="Google Shape;2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234440"/>
            <a:ext cx="11457432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 txBox="1"/>
          <p:nvPr/>
        </p:nvSpPr>
        <p:spPr>
          <a:xfrm>
            <a:off x="411480" y="6309360"/>
            <a:ext cx="11365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Monotonic decrease: every tier earns less than the tier above. Top-5 median ≈ 8.0% cap vs. picks 21–30 median ≈ 3.0% cap.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Statistical Tests</a:t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411480" y="1371600"/>
            <a:ext cx="11365992" cy="138988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11480" y="1371600"/>
            <a:ext cx="82296" cy="138988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658368" y="148132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Pearson Correlation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658368" y="1901952"/>
            <a:ext cx="4754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 = −0.610,  p &lt; 0.001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5669280" y="1755648"/>
            <a:ext cx="5943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Strong negative linear relationship between draft pick and 2nd contract salary</a:t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411480" y="2926080"/>
            <a:ext cx="11365992" cy="138988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11480" y="2926080"/>
            <a:ext cx="82296" cy="138988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658368" y="303580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Spearman Correlation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658368" y="3456432"/>
            <a:ext cx="4754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ρ = −0.686,  p &lt; 0.001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5669280" y="3310128"/>
            <a:ext cx="5943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Rank-based test confirms result — robust to outliers and non-normality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411480" y="4480560"/>
            <a:ext cx="11365992" cy="138988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11480" y="4480560"/>
            <a:ext cx="82296" cy="138988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658368" y="459028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One-Way ANOVA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658368" y="5010912"/>
            <a:ext cx="4754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 = 52.73,  p &lt; 0.001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5669280" y="4864608"/>
            <a:ext cx="5943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Pick-tier group means differ far beyond sampling noise — groups are statistically distinct</a:t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411480" y="6035040"/>
            <a:ext cx="1136599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411480" y="6153912"/>
            <a:ext cx="113659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→ All three tests reject H₀:  draft pick is a strong, statistically significant predictor of second-contract salary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Multiple Linear Regression (OLS)  ·  ISLR Ch. 3</a:t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11480" y="1298448"/>
            <a:ext cx="2743200" cy="98755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502920" y="138988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0.490</a:t>
            </a:r>
            <a:endParaRPr/>
          </a:p>
        </p:txBody>
      </p:sp>
      <p:sp>
        <p:nvSpPr>
          <p:cNvPr id="257" name="Google Shape;257;p8"/>
          <p:cNvSpPr txBox="1"/>
          <p:nvPr/>
        </p:nvSpPr>
        <p:spPr>
          <a:xfrm>
            <a:off x="502920" y="192024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3337560" y="1298448"/>
            <a:ext cx="2743200" cy="98755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3429000" y="138988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0.474</a:t>
            </a:r>
            <a:endParaRPr/>
          </a:p>
        </p:txBody>
      </p:sp>
      <p:sp>
        <p:nvSpPr>
          <p:cNvPr id="260" name="Google Shape;260;p8"/>
          <p:cNvSpPr txBox="1"/>
          <p:nvPr/>
        </p:nvSpPr>
        <p:spPr>
          <a:xfrm>
            <a:off x="3429000" y="192024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Adj. R²</a:t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6263640" y="1298448"/>
            <a:ext cx="2743200" cy="98755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6355080" y="138988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30.60</a:t>
            </a: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6355080" y="192024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F-statistic</a:t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9189720" y="1298448"/>
            <a:ext cx="2743200" cy="98755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9281160" y="138988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2.38e-33</a:t>
            </a:r>
            <a:endParaRPr/>
          </a:p>
        </p:txBody>
      </p:sp>
      <p:sp>
        <p:nvSpPr>
          <p:cNvPr id="266" name="Google Shape;266;p8"/>
          <p:cNvSpPr txBox="1"/>
          <p:nvPr/>
        </p:nvSpPr>
        <p:spPr>
          <a:xfrm>
            <a:off x="9281160" y="192024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p-value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411480" y="2468880"/>
            <a:ext cx="11365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Key Coefficients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411480" y="2852928"/>
            <a:ext cx="11686032" cy="34747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457200" y="290779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3840480" y="290779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Coef</a:t>
            </a:r>
            <a:endParaRPr/>
          </a:p>
        </p:txBody>
      </p:sp>
      <p:sp>
        <p:nvSpPr>
          <p:cNvPr id="271" name="Google Shape;271;p8"/>
          <p:cNvSpPr txBox="1"/>
          <p:nvPr/>
        </p:nvSpPr>
        <p:spPr>
          <a:xfrm>
            <a:off x="5577840" y="29077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Std Err</a:t>
            </a:r>
            <a:endParaRPr/>
          </a:p>
        </p:txBody>
      </p:sp>
      <p:sp>
        <p:nvSpPr>
          <p:cNvPr id="272" name="Google Shape;272;p8"/>
          <p:cNvSpPr txBox="1"/>
          <p:nvPr/>
        </p:nvSpPr>
        <p:spPr>
          <a:xfrm>
            <a:off x="7132320" y="29077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p-value</a:t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8869680" y="290779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Notes</a:t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411480" y="3200400"/>
            <a:ext cx="11686032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457200" y="325526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overall_pick</a:t>
            </a:r>
            <a:endParaRPr/>
          </a:p>
        </p:txBody>
      </p:sp>
      <p:sp>
        <p:nvSpPr>
          <p:cNvPr id="276" name="Google Shape;276;p8"/>
          <p:cNvSpPr txBox="1"/>
          <p:nvPr/>
        </p:nvSpPr>
        <p:spPr>
          <a:xfrm>
            <a:off x="3840480" y="3255264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−0.1479</a:t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5577840" y="325526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0.017</a:t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7132320" y="325526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&lt; 0.001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8869680" y="325526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★ Dominant predictor</a:t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11480" y="3547872"/>
            <a:ext cx="11686032" cy="347472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457200" y="360273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career_ppg</a:t>
            </a:r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3840480" y="360273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+0.1371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5577840" y="360273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0.042</a:t>
            </a:r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7132320" y="360273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0.001</a:t>
            </a:r>
            <a:endParaRPr/>
          </a:p>
        </p:txBody>
      </p:sp>
      <p:sp>
        <p:nvSpPr>
          <p:cNvPr id="285" name="Google Shape;285;p8"/>
          <p:cNvSpPr txBox="1"/>
          <p:nvPr/>
        </p:nvSpPr>
        <p:spPr>
          <a:xfrm>
            <a:off x="8869680" y="360273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Significant</a:t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411480" y="3895344"/>
            <a:ext cx="11686032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457200" y="3950207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career_rpg</a:t>
            </a:r>
            <a:endParaRPr/>
          </a:p>
        </p:txBody>
      </p:sp>
      <p:sp>
        <p:nvSpPr>
          <p:cNvPr id="288" name="Google Shape;288;p8"/>
          <p:cNvSpPr txBox="1"/>
          <p:nvPr/>
        </p:nvSpPr>
        <p:spPr>
          <a:xfrm>
            <a:off x="3840480" y="3950207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+0.1683</a:t>
            </a:r>
            <a:endParaRPr/>
          </a:p>
        </p:txBody>
      </p:sp>
      <p:sp>
        <p:nvSpPr>
          <p:cNvPr id="289" name="Google Shape;289;p8"/>
          <p:cNvSpPr txBox="1"/>
          <p:nvPr/>
        </p:nvSpPr>
        <p:spPr>
          <a:xfrm>
            <a:off x="5577840" y="3950207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0.080</a:t>
            </a:r>
            <a:endParaRPr/>
          </a:p>
        </p:txBody>
      </p:sp>
      <p:sp>
        <p:nvSpPr>
          <p:cNvPr id="290" name="Google Shape;290;p8"/>
          <p:cNvSpPr txBox="1"/>
          <p:nvPr/>
        </p:nvSpPr>
        <p:spPr>
          <a:xfrm>
            <a:off x="7132320" y="39502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0.037</a:t>
            </a:r>
            <a:endParaRPr/>
          </a:p>
        </p:txBody>
      </p:sp>
      <p:sp>
        <p:nvSpPr>
          <p:cNvPr id="291" name="Google Shape;291;p8"/>
          <p:cNvSpPr txBox="1"/>
          <p:nvPr/>
        </p:nvSpPr>
        <p:spPr>
          <a:xfrm>
            <a:off x="8869680" y="3950207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Significant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411480" y="4242816"/>
            <a:ext cx="11686032" cy="347472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457200" y="4297679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career_bpm</a:t>
            </a:r>
            <a:endParaRPr/>
          </a:p>
        </p:txBody>
      </p:sp>
      <p:sp>
        <p:nvSpPr>
          <p:cNvPr id="294" name="Google Shape;294;p8"/>
          <p:cNvSpPr txBox="1"/>
          <p:nvPr/>
        </p:nvSpPr>
        <p:spPr>
          <a:xfrm>
            <a:off x="3840480" y="4297679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+0.1573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5577840" y="4297679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0.071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7132320" y="4297679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0.029</a:t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>
            <a:off x="8869680" y="4297679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Significant</a:t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411480" y="4590288"/>
            <a:ext cx="11686032" cy="34747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 txBox="1"/>
          <p:nvPr/>
        </p:nvSpPr>
        <p:spPr>
          <a:xfrm>
            <a:off x="457200" y="4645151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career_apg</a:t>
            </a:r>
            <a:endParaRPr/>
          </a:p>
        </p:txBody>
      </p:sp>
      <p:sp>
        <p:nvSpPr>
          <p:cNvPr id="300" name="Google Shape;300;p8"/>
          <p:cNvSpPr txBox="1"/>
          <p:nvPr/>
        </p:nvSpPr>
        <p:spPr>
          <a:xfrm>
            <a:off x="3840480" y="4645151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+0.1166</a:t>
            </a:r>
            <a:endParaRPr/>
          </a:p>
        </p:txBody>
      </p:sp>
      <p:sp>
        <p:nvSpPr>
          <p:cNvPr id="301" name="Google Shape;301;p8"/>
          <p:cNvSpPr txBox="1"/>
          <p:nvPr/>
        </p:nvSpPr>
        <p:spPr>
          <a:xfrm>
            <a:off x="5577840" y="4645151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0.110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7132320" y="4645151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0.292</a:t>
            </a:r>
            <a:endParaRPr/>
          </a:p>
        </p:txBody>
      </p:sp>
      <p:sp>
        <p:nvSpPr>
          <p:cNvPr id="303" name="Google Shape;303;p8"/>
          <p:cNvSpPr txBox="1"/>
          <p:nvPr/>
        </p:nvSpPr>
        <p:spPr>
          <a:xfrm>
            <a:off x="8869680" y="4645151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significant</a:t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411480" y="4937759"/>
            <a:ext cx="11686032" cy="347472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 txBox="1"/>
          <p:nvPr/>
        </p:nvSpPr>
        <p:spPr>
          <a:xfrm>
            <a:off x="457200" y="4992623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career_vorp</a:t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3840480" y="4992623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−0.0256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5577840" y="4992623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0.047</a:t>
            </a:r>
            <a:endParaRPr/>
          </a:p>
        </p:txBody>
      </p:sp>
      <p:sp>
        <p:nvSpPr>
          <p:cNvPr id="308" name="Google Shape;308;p8"/>
          <p:cNvSpPr txBox="1"/>
          <p:nvPr/>
        </p:nvSpPr>
        <p:spPr>
          <a:xfrm>
            <a:off x="7132320" y="4992623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0.588</a:t>
            </a:r>
            <a:endParaRPr/>
          </a:p>
        </p:txBody>
      </p:sp>
      <p:sp>
        <p:nvSpPr>
          <p:cNvPr id="309" name="Google Shape;309;p8"/>
          <p:cNvSpPr txBox="1"/>
          <p:nvPr/>
        </p:nvSpPr>
        <p:spPr>
          <a:xfrm>
            <a:off x="8869680" y="4992623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significant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Tree (Depth = 4)  —  Interpretable Structure</a:t>
            </a:r>
            <a:endParaRPr/>
          </a:p>
        </p:txBody>
      </p:sp>
      <p:pic>
        <p:nvPicPr>
          <p:cNvPr descr="p03_decision_tree.png" id="316" name="Google Shape;3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11640312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0"/>
          <p:cNvSpPr txBox="1"/>
          <p:nvPr/>
        </p:nvSpPr>
        <p:spPr>
          <a:xfrm>
            <a:off x="411480" y="6355080"/>
            <a:ext cx="11365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First split: overall_pick ≤ 9.5 separates star-track from role-player track.  Deeper nodes use career_ws to refine salary predictions within each group.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 — Feature Importance &amp; Prediction Quality</a:t>
            </a:r>
            <a:endParaRPr/>
          </a:p>
        </p:txBody>
      </p:sp>
      <p:pic>
        <p:nvPicPr>
          <p:cNvPr descr="p04_feature_importance.png" id="324" name="Google Shape;3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6400800" cy="3504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05_actual_vs_predicted.png" id="325" name="Google Shape;3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0" y="1188720"/>
            <a:ext cx="5120640" cy="437200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1"/>
          <p:cNvSpPr txBox="1"/>
          <p:nvPr/>
        </p:nvSpPr>
        <p:spPr>
          <a:xfrm>
            <a:off x="411480" y="6012180"/>
            <a:ext cx="113659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Overall pick contributes 52% of total feature importance — more than 3× the next predictor.  </a:t>
            </a:r>
            <a:endParaRPr b="1" i="0" sz="1600" u="none" cap="none" strike="noStrike">
              <a:solidFill>
                <a:srgbClr val="FF57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Even controlling for all performance stats, draft pedigree dominates.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Model Comparison  ·  5-Fold Cross Validation</a:t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411480" y="1325880"/>
            <a:ext cx="11686032" cy="38404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 txBox="1"/>
          <p:nvPr/>
        </p:nvSpPr>
        <p:spPr>
          <a:xfrm>
            <a:off x="457200" y="138988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sp>
        <p:nvSpPr>
          <p:cNvPr id="335" name="Google Shape;335;p9"/>
          <p:cNvSpPr txBox="1"/>
          <p:nvPr/>
        </p:nvSpPr>
        <p:spPr>
          <a:xfrm>
            <a:off x="3474720" y="13898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CV R²</a:t>
            </a:r>
            <a:endParaRPr/>
          </a:p>
        </p:txBody>
      </p:sp>
      <p:sp>
        <p:nvSpPr>
          <p:cNvPr id="336" name="Google Shape;336;p9"/>
          <p:cNvSpPr txBox="1"/>
          <p:nvPr/>
        </p:nvSpPr>
        <p:spPr>
          <a:xfrm>
            <a:off x="5029200" y="13898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CV MAE</a:t>
            </a:r>
            <a:endParaRPr/>
          </a:p>
        </p:txBody>
      </p:sp>
      <p:sp>
        <p:nvSpPr>
          <p:cNvPr id="337" name="Google Shape;337;p9"/>
          <p:cNvSpPr txBox="1"/>
          <p:nvPr/>
        </p:nvSpPr>
        <p:spPr>
          <a:xfrm>
            <a:off x="6583680" y="13898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Test R²</a:t>
            </a:r>
            <a:endParaRPr/>
          </a:p>
        </p:txBody>
      </p:sp>
      <p:sp>
        <p:nvSpPr>
          <p:cNvPr id="338" name="Google Shape;338;p9"/>
          <p:cNvSpPr txBox="1"/>
          <p:nvPr/>
        </p:nvSpPr>
        <p:spPr>
          <a:xfrm>
            <a:off x="8229600" y="138988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Test MAE</a:t>
            </a:r>
            <a:endParaRPr/>
          </a:p>
        </p:txBody>
      </p:sp>
      <p:sp>
        <p:nvSpPr>
          <p:cNvPr id="339" name="Google Shape;339;p9"/>
          <p:cNvSpPr txBox="1"/>
          <p:nvPr/>
        </p:nvSpPr>
        <p:spPr>
          <a:xfrm>
            <a:off x="9875520" y="13898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411480" y="1709928"/>
            <a:ext cx="11686032" cy="47548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 txBox="1"/>
          <p:nvPr/>
        </p:nvSpPr>
        <p:spPr>
          <a:xfrm>
            <a:off x="457200" y="18013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/>
          </a:p>
        </p:txBody>
      </p:sp>
      <p:sp>
        <p:nvSpPr>
          <p:cNvPr id="342" name="Google Shape;342;p9"/>
          <p:cNvSpPr txBox="1"/>
          <p:nvPr/>
        </p:nvSpPr>
        <p:spPr>
          <a:xfrm>
            <a:off x="3474720" y="180136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0.375</a:t>
            </a:r>
            <a:endParaRPr/>
          </a:p>
        </p:txBody>
      </p:sp>
      <p:sp>
        <p:nvSpPr>
          <p:cNvPr id="343" name="Google Shape;343;p9"/>
          <p:cNvSpPr txBox="1"/>
          <p:nvPr/>
        </p:nvSpPr>
        <p:spPr>
          <a:xfrm>
            <a:off x="5029200" y="180136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1.38</a:t>
            </a:r>
            <a:endParaRPr/>
          </a:p>
        </p:txBody>
      </p:sp>
      <p:sp>
        <p:nvSpPr>
          <p:cNvPr id="344" name="Google Shape;344;p9"/>
          <p:cNvSpPr txBox="1"/>
          <p:nvPr/>
        </p:nvSpPr>
        <p:spPr>
          <a:xfrm>
            <a:off x="6583680" y="180136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0.332</a:t>
            </a:r>
            <a:endParaRPr/>
          </a:p>
        </p:txBody>
      </p:sp>
      <p:sp>
        <p:nvSpPr>
          <p:cNvPr id="345" name="Google Shape;345;p9"/>
          <p:cNvSpPr txBox="1"/>
          <p:nvPr/>
        </p:nvSpPr>
        <p:spPr>
          <a:xfrm>
            <a:off x="8229600" y="180136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1.32</a:t>
            </a:r>
            <a:endParaRPr/>
          </a:p>
        </p:txBody>
      </p:sp>
      <p:sp>
        <p:nvSpPr>
          <p:cNvPr id="346" name="Google Shape;346;p9"/>
          <p:cNvSpPr txBox="1"/>
          <p:nvPr/>
        </p:nvSpPr>
        <p:spPr>
          <a:xfrm>
            <a:off x="9875520" y="180136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interpretability</a:t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411480" y="2093976"/>
            <a:ext cx="11686032" cy="475488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457200" y="2185416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Tree (depth=4)</a:t>
            </a:r>
            <a:endParaRPr/>
          </a:p>
        </p:txBody>
      </p:sp>
      <p:sp>
        <p:nvSpPr>
          <p:cNvPr id="349" name="Google Shape;349;p9"/>
          <p:cNvSpPr txBox="1"/>
          <p:nvPr/>
        </p:nvSpPr>
        <p:spPr>
          <a:xfrm>
            <a:off x="3474720" y="218541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−0.326</a:t>
            </a:r>
            <a:endParaRPr/>
          </a:p>
        </p:txBody>
      </p:sp>
      <p:sp>
        <p:nvSpPr>
          <p:cNvPr id="350" name="Google Shape;350;p9"/>
          <p:cNvSpPr txBox="1"/>
          <p:nvPr/>
        </p:nvSpPr>
        <p:spPr>
          <a:xfrm>
            <a:off x="5029200" y="218541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1.69</a:t>
            </a:r>
            <a:endParaRPr/>
          </a:p>
        </p:txBody>
      </p:sp>
      <p:sp>
        <p:nvSpPr>
          <p:cNvPr id="351" name="Google Shape;351;p9"/>
          <p:cNvSpPr txBox="1"/>
          <p:nvPr/>
        </p:nvSpPr>
        <p:spPr>
          <a:xfrm>
            <a:off x="6583680" y="218541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0.227</a:t>
            </a:r>
            <a:endParaRPr/>
          </a:p>
        </p:txBody>
      </p:sp>
      <p:sp>
        <p:nvSpPr>
          <p:cNvPr id="352" name="Google Shape;352;p9"/>
          <p:cNvSpPr txBox="1"/>
          <p:nvPr/>
        </p:nvSpPr>
        <p:spPr>
          <a:xfrm>
            <a:off x="8229600" y="2185416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1.45</a:t>
            </a:r>
            <a:endParaRPr/>
          </a:p>
        </p:txBody>
      </p:sp>
      <p:sp>
        <p:nvSpPr>
          <p:cNvPr id="353" name="Google Shape;353;p9"/>
          <p:cNvSpPr txBox="1"/>
          <p:nvPr/>
        </p:nvSpPr>
        <p:spPr>
          <a:xfrm>
            <a:off x="9875520" y="2185416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Overfits; use RF instead</a:t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411480" y="2478024"/>
            <a:ext cx="11686032" cy="47548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 txBox="1"/>
          <p:nvPr/>
        </p:nvSpPr>
        <p:spPr>
          <a:xfrm>
            <a:off x="457200" y="256946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Random Forest (300 trees)</a:t>
            </a:r>
            <a:endParaRPr/>
          </a:p>
        </p:txBody>
      </p:sp>
      <p:sp>
        <p:nvSpPr>
          <p:cNvPr id="356" name="Google Shape;356;p9"/>
          <p:cNvSpPr txBox="1"/>
          <p:nvPr/>
        </p:nvSpPr>
        <p:spPr>
          <a:xfrm>
            <a:off x="3474720" y="256946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0.341</a:t>
            </a:r>
            <a:endParaRPr/>
          </a:p>
        </p:txBody>
      </p:sp>
      <p:sp>
        <p:nvSpPr>
          <p:cNvPr id="357" name="Google Shape;357;p9"/>
          <p:cNvSpPr txBox="1"/>
          <p:nvPr/>
        </p:nvSpPr>
        <p:spPr>
          <a:xfrm>
            <a:off x="5029200" y="256946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1.37</a:t>
            </a:r>
            <a:endParaRPr/>
          </a:p>
        </p:txBody>
      </p:sp>
      <p:sp>
        <p:nvSpPr>
          <p:cNvPr id="358" name="Google Shape;358;p9"/>
          <p:cNvSpPr txBox="1"/>
          <p:nvPr/>
        </p:nvSpPr>
        <p:spPr>
          <a:xfrm>
            <a:off x="6583680" y="256946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0.313</a:t>
            </a:r>
            <a:endParaRPr/>
          </a:p>
        </p:txBody>
      </p:sp>
      <p:sp>
        <p:nvSpPr>
          <p:cNvPr id="359" name="Google Shape;359;p9"/>
          <p:cNvSpPr txBox="1"/>
          <p:nvPr/>
        </p:nvSpPr>
        <p:spPr>
          <a:xfrm>
            <a:off x="8229600" y="2569464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1.35</a:t>
            </a:r>
            <a:endParaRPr/>
          </a:p>
        </p:txBody>
      </p:sp>
      <p:sp>
        <p:nvSpPr>
          <p:cNvPr id="360" name="Google Shape;360;p9"/>
          <p:cNvSpPr txBox="1"/>
          <p:nvPr/>
        </p:nvSpPr>
        <p:spPr>
          <a:xfrm>
            <a:off x="9875520" y="2569464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Best generalization</a:t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411480" y="3026664"/>
            <a:ext cx="11686032" cy="96012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411480" y="3026664"/>
            <a:ext cx="82296" cy="96012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640080" y="311810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Key Insight:</a:t>
            </a:r>
            <a:endParaRPr/>
          </a:p>
        </p:txBody>
      </p:sp>
      <p:sp>
        <p:nvSpPr>
          <p:cNvPr id="364" name="Google Shape;364;p9"/>
          <p:cNvSpPr txBox="1"/>
          <p:nvPr/>
        </p:nvSpPr>
        <p:spPr>
          <a:xfrm>
            <a:off x="640080" y="3465576"/>
            <a:ext cx="11155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three model families confirm the relationship is real and substantial. The modest gain from non-linear methods suggests the pick → salary relationship is approximately linear once salary is cap-normalized. Linear Regression is preferred for its interpretability.</a:t>
            </a:r>
            <a:endParaRPr/>
          </a:p>
        </p:txBody>
      </p:sp>
      <p:sp>
        <p:nvSpPr>
          <p:cNvPr id="365" name="Google Shape;365;p9"/>
          <p:cNvSpPr txBox="1"/>
          <p:nvPr/>
        </p:nvSpPr>
        <p:spPr>
          <a:xfrm>
            <a:off x="411480" y="412394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CV R²  (5-Fold)</a:t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411480" y="4535424"/>
            <a:ext cx="4714875" cy="38404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 txBox="1"/>
          <p:nvPr/>
        </p:nvSpPr>
        <p:spPr>
          <a:xfrm>
            <a:off x="548640" y="462686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Linear Reg</a:t>
            </a:r>
            <a:endParaRPr/>
          </a:p>
        </p:txBody>
      </p:sp>
      <p:sp>
        <p:nvSpPr>
          <p:cNvPr id="368" name="Google Shape;368;p9"/>
          <p:cNvSpPr txBox="1"/>
          <p:nvPr/>
        </p:nvSpPr>
        <p:spPr>
          <a:xfrm>
            <a:off x="5217795" y="462686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0.375</a:t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411480" y="5038344"/>
            <a:ext cx="4287393" cy="384048"/>
          </a:xfrm>
          <a:prstGeom prst="rect">
            <a:avLst/>
          </a:prstGeom>
          <a:solidFill>
            <a:srgbClr val="228B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 txBox="1"/>
          <p:nvPr/>
        </p:nvSpPr>
        <p:spPr>
          <a:xfrm>
            <a:off x="548640" y="5129783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</p:txBody>
      </p:sp>
      <p:sp>
        <p:nvSpPr>
          <p:cNvPr id="371" name="Google Shape;371;p9"/>
          <p:cNvSpPr txBox="1"/>
          <p:nvPr/>
        </p:nvSpPr>
        <p:spPr>
          <a:xfrm>
            <a:off x="4790313" y="5129783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0.341</a:t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411480" y="5541264"/>
            <a:ext cx="73152" cy="384048"/>
          </a:xfrm>
          <a:prstGeom prst="rect">
            <a:avLst/>
          </a:prstGeom>
          <a:solidFill>
            <a:srgbClr val="9CA3A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 txBox="1"/>
          <p:nvPr/>
        </p:nvSpPr>
        <p:spPr>
          <a:xfrm>
            <a:off x="548640" y="5632703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/>
          </a:p>
        </p:txBody>
      </p:sp>
      <p:sp>
        <p:nvSpPr>
          <p:cNvPr id="374" name="Google Shape;374;p9"/>
          <p:cNvSpPr txBox="1"/>
          <p:nvPr/>
        </p:nvSpPr>
        <p:spPr>
          <a:xfrm>
            <a:off x="1554480" y="5632703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-0.326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SQ1 — Position Analysis:  Does the Pick Effect Hold Across Positions?</a:t>
            </a:r>
            <a:endParaRPr/>
          </a:p>
        </p:txBody>
      </p:sp>
      <p:pic>
        <p:nvPicPr>
          <p:cNvPr descr="p06_position_scatter.png" id="381" name="Google Shape;38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34440"/>
            <a:ext cx="7315200" cy="441891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2"/>
          <p:cNvSpPr txBox="1"/>
          <p:nvPr/>
        </p:nvSpPr>
        <p:spPr>
          <a:xfrm>
            <a:off x="7818120" y="12801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Pearson r by Position</a:t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7772400" y="1737360"/>
            <a:ext cx="4251960" cy="8412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7772400" y="1737360"/>
            <a:ext cx="82296" cy="84124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8001000" y="180136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Guard</a:t>
            </a:r>
            <a:endParaRPr/>
          </a:p>
        </p:txBody>
      </p:sp>
      <p:sp>
        <p:nvSpPr>
          <p:cNvPr id="386" name="Google Shape;386;p12"/>
          <p:cNvSpPr txBox="1"/>
          <p:nvPr/>
        </p:nvSpPr>
        <p:spPr>
          <a:xfrm>
            <a:off x="8001000" y="21945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 = 113</a:t>
            </a:r>
            <a:endParaRPr/>
          </a:p>
        </p:txBody>
      </p:sp>
      <p:sp>
        <p:nvSpPr>
          <p:cNvPr id="387" name="Google Shape;387;p12"/>
          <p:cNvSpPr txBox="1"/>
          <p:nvPr/>
        </p:nvSpPr>
        <p:spPr>
          <a:xfrm>
            <a:off x="10058400" y="19202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−0.718</a:t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7772400" y="2651760"/>
            <a:ext cx="4251960" cy="8412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7772400" y="2651760"/>
            <a:ext cx="82296" cy="84124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 txBox="1"/>
          <p:nvPr/>
        </p:nvSpPr>
        <p:spPr>
          <a:xfrm>
            <a:off x="8001000" y="271576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Forward</a:t>
            </a:r>
            <a:endParaRPr/>
          </a:p>
        </p:txBody>
      </p:sp>
      <p:sp>
        <p:nvSpPr>
          <p:cNvPr id="391" name="Google Shape;391;p12"/>
          <p:cNvSpPr txBox="1"/>
          <p:nvPr/>
        </p:nvSpPr>
        <p:spPr>
          <a:xfrm>
            <a:off x="8001000" y="31089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 = 104</a:t>
            </a:r>
            <a:endParaRPr/>
          </a:p>
        </p:txBody>
      </p:sp>
      <p:sp>
        <p:nvSpPr>
          <p:cNvPr id="392" name="Google Shape;392;p12"/>
          <p:cNvSpPr txBox="1"/>
          <p:nvPr/>
        </p:nvSpPr>
        <p:spPr>
          <a:xfrm>
            <a:off x="10058400" y="28346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−0.579</a:t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7772400" y="3566160"/>
            <a:ext cx="4251960" cy="84124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7772400" y="3566160"/>
            <a:ext cx="82296" cy="84124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 txBox="1"/>
          <p:nvPr/>
        </p:nvSpPr>
        <p:spPr>
          <a:xfrm>
            <a:off x="8001000" y="363016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Center</a:t>
            </a:r>
            <a:endParaRPr/>
          </a:p>
        </p:txBody>
      </p:sp>
      <p:sp>
        <p:nvSpPr>
          <p:cNvPr id="396" name="Google Shape;396;p12"/>
          <p:cNvSpPr txBox="1"/>
          <p:nvPr/>
        </p:nvSpPr>
        <p:spPr>
          <a:xfrm>
            <a:off x="8001000" y="40233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 =  47</a:t>
            </a:r>
            <a:endParaRPr/>
          </a:p>
        </p:txBody>
      </p:sp>
      <p:sp>
        <p:nvSpPr>
          <p:cNvPr id="397" name="Google Shape;397;p12"/>
          <p:cNvSpPr txBox="1"/>
          <p:nvPr/>
        </p:nvSpPr>
        <p:spPr>
          <a:xfrm>
            <a:off x="10058400" y="3749039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−0.512</a:t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7772400" y="4572000"/>
            <a:ext cx="4251960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7772400" y="4709160"/>
            <a:ext cx="4251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Finding: The negative pick→salary relationship holds across allpositions.  Guards show the steepest slope — scarcity of true point</a:t>
            </a:r>
            <a:b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guards amplifies the pedigree premium.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SQ2 — Performance Moderation:  Does Production Override Pedigree?</a:t>
            </a:r>
            <a:endParaRPr/>
          </a:p>
        </p:txBody>
      </p:sp>
      <p:pic>
        <p:nvPicPr>
          <p:cNvPr descr="p07_perf_moderation.png" id="406" name="Google Shape;4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34440"/>
            <a:ext cx="7315200" cy="441891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4"/>
          <p:cNvSpPr txBox="1"/>
          <p:nvPr/>
        </p:nvSpPr>
        <p:spPr>
          <a:xfrm>
            <a:off x="7818120" y="123444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7772400" y="1737360"/>
            <a:ext cx="73152" cy="68580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 txBox="1"/>
          <p:nvPr/>
        </p:nvSpPr>
        <p:spPr>
          <a:xfrm>
            <a:off x="7973568" y="1737360"/>
            <a:ext cx="4069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 High &amp; Low Performers show a negative pick → salary slope</a:t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7772400" y="2560320"/>
            <a:ext cx="73152" cy="68580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 txBox="1"/>
          <p:nvPr/>
        </p:nvSpPr>
        <p:spPr>
          <a:xfrm>
            <a:off x="7973568" y="2560320"/>
            <a:ext cx="4069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performers earn more at every pick level (baseline shift)</a:t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7772400" y="3383279"/>
            <a:ext cx="73152" cy="68580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 txBox="1"/>
          <p:nvPr/>
        </p:nvSpPr>
        <p:spPr>
          <a:xfrm>
            <a:off x="7973568" y="3364993"/>
            <a:ext cx="4069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Interaction term (pick × career ws) tests whether performance changes the strength of the pick effect</a:t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7772400" y="4206240"/>
            <a:ext cx="73152" cy="68580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 txBox="1"/>
          <p:nvPr/>
        </p:nvSpPr>
        <p:spPr>
          <a:xfrm>
            <a:off x="7973568" y="4206240"/>
            <a:ext cx="4069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pick premium is not eliminated by strong performance — pedigree retains independent market value</a:t>
            </a:r>
            <a:endParaRPr/>
          </a:p>
        </p:txBody>
      </p:sp>
      <p:pic>
        <p:nvPicPr>
          <p:cNvPr descr="p08_era_scatter.png" id="416" name="Google Shape;4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234440"/>
            <a:ext cx="7315199" cy="441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SQ3 — Era Analysis:  Has the Pick Effect Changed Over Time?</a:t>
            </a:r>
            <a:endParaRPr/>
          </a:p>
        </p:txBody>
      </p:sp>
      <p:sp>
        <p:nvSpPr>
          <p:cNvPr id="423" name="Google Shape;423;p13"/>
          <p:cNvSpPr txBox="1"/>
          <p:nvPr/>
        </p:nvSpPr>
        <p:spPr>
          <a:xfrm>
            <a:off x="7818120" y="12801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Era Comparison</a:t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7772400" y="1737360"/>
            <a:ext cx="4251960" cy="9144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7772400" y="1737360"/>
            <a:ext cx="82296" cy="91440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 txBox="1"/>
          <p:nvPr/>
        </p:nvSpPr>
        <p:spPr>
          <a:xfrm>
            <a:off x="8001000" y="18288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2010–2014</a:t>
            </a:r>
            <a:endParaRPr/>
          </a:p>
        </p:txBody>
      </p:sp>
      <p:sp>
        <p:nvSpPr>
          <p:cNvPr id="427" name="Google Shape;427;p13"/>
          <p:cNvSpPr txBox="1"/>
          <p:nvPr/>
        </p:nvSpPr>
        <p:spPr>
          <a:xfrm>
            <a:off x="8001000" y="226771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 = 104</a:t>
            </a:r>
            <a:endParaRPr/>
          </a:p>
        </p:txBody>
      </p:sp>
      <p:sp>
        <p:nvSpPr>
          <p:cNvPr id="428" name="Google Shape;428;p13"/>
          <p:cNvSpPr txBox="1"/>
          <p:nvPr/>
        </p:nvSpPr>
        <p:spPr>
          <a:xfrm>
            <a:off x="9875520" y="19659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−0.545</a:t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7772400" y="2788920"/>
            <a:ext cx="4251960" cy="9144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7772400" y="2788920"/>
            <a:ext cx="82296" cy="91440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 txBox="1"/>
          <p:nvPr/>
        </p:nvSpPr>
        <p:spPr>
          <a:xfrm>
            <a:off x="8001000" y="288036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2015–2021</a:t>
            </a:r>
            <a:endParaRPr/>
          </a:p>
        </p:txBody>
      </p:sp>
      <p:sp>
        <p:nvSpPr>
          <p:cNvPr id="432" name="Google Shape;432;p13"/>
          <p:cNvSpPr txBox="1"/>
          <p:nvPr/>
        </p:nvSpPr>
        <p:spPr>
          <a:xfrm>
            <a:off x="8001000" y="331927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 = 160</a:t>
            </a:r>
            <a:endParaRPr/>
          </a:p>
        </p:txBody>
      </p:sp>
      <p:sp>
        <p:nvSpPr>
          <p:cNvPr id="433" name="Google Shape;433;p13"/>
          <p:cNvSpPr txBox="1"/>
          <p:nvPr/>
        </p:nvSpPr>
        <p:spPr>
          <a:xfrm>
            <a:off x="9875520" y="30175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−0.688</a:t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7772400" y="4114800"/>
            <a:ext cx="4251960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 txBox="1"/>
          <p:nvPr/>
        </p:nvSpPr>
        <p:spPr>
          <a:xfrm>
            <a:off x="7772400" y="4251960"/>
            <a:ext cx="4251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Finding: Negative correlation persists in both eras.  Post-2015 shows</a:t>
            </a:r>
            <a:r>
              <a:rPr i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steeper slope — the 2017 cap spike disproportionately rewarded high</a:t>
            </a:r>
            <a:b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picks who reached free agency in the inflated cap window</a:t>
            </a: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descr="p07_perf_moderation.png" id="436" name="Google Shape;4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34440"/>
            <a:ext cx="7315199" cy="441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SQ4 — K-Means Clustering:  Player Archetypes  (K = 4)</a:t>
            </a:r>
            <a:endParaRPr/>
          </a:p>
        </p:txBody>
      </p:sp>
      <p:pic>
        <p:nvPicPr>
          <p:cNvPr descr="p10_kmeans_clusters.png" id="443" name="Google Shape;4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94303"/>
            <a:ext cx="7315200" cy="4713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09_elbow.png" id="444" name="Google Shape;4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6679" y="994303"/>
            <a:ext cx="4251960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5"/>
          <p:cNvSpPr/>
          <p:nvPr/>
        </p:nvSpPr>
        <p:spPr>
          <a:xfrm>
            <a:off x="7726679" y="3051703"/>
            <a:ext cx="4251960" cy="80467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7726679" y="3051703"/>
            <a:ext cx="73152" cy="80467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 txBox="1"/>
          <p:nvPr/>
        </p:nvSpPr>
        <p:spPr>
          <a:xfrm>
            <a:off x="7936992" y="3097423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Top-Pick Stars</a:t>
            </a:r>
            <a:endParaRPr>
              <a:solidFill>
                <a:srgbClr val="00FFFF"/>
              </a:solidFill>
            </a:endParaRPr>
          </a:p>
        </p:txBody>
      </p:sp>
      <p:sp>
        <p:nvSpPr>
          <p:cNvPr id="448" name="Google Shape;448;p15"/>
          <p:cNvSpPr txBox="1"/>
          <p:nvPr/>
        </p:nvSpPr>
        <p:spPr>
          <a:xfrm>
            <a:off x="7936992" y="3417463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n=42  ·  Pick≈4,  Salary≈8.6%</a:t>
            </a:r>
            <a:endParaRPr/>
          </a:p>
        </p:txBody>
      </p:sp>
      <p:sp>
        <p:nvSpPr>
          <p:cNvPr id="449" name="Google Shape;449;p15"/>
          <p:cNvSpPr txBox="1"/>
          <p:nvPr/>
        </p:nvSpPr>
        <p:spPr>
          <a:xfrm>
            <a:off x="7936992" y="3627775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Embiid,Lonzo Ball, Zion Williamson</a:t>
            </a: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7726679" y="3920383"/>
            <a:ext cx="4251960" cy="80467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7726679" y="3920383"/>
            <a:ext cx="73152" cy="80467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7936992" y="3966103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Late Play Breakout</a:t>
            </a:r>
            <a:endParaRPr/>
          </a:p>
        </p:txBody>
      </p:sp>
      <p:sp>
        <p:nvSpPr>
          <p:cNvPr id="453" name="Google Shape;453;p15"/>
          <p:cNvSpPr txBox="1"/>
          <p:nvPr/>
        </p:nvSpPr>
        <p:spPr>
          <a:xfrm>
            <a:off x="7936992" y="4286143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n=18  ·  Pick≈11, Salary≈5.7%</a:t>
            </a:r>
            <a:endParaRPr/>
          </a:p>
        </p:txBody>
      </p:sp>
      <p:sp>
        <p:nvSpPr>
          <p:cNvPr id="454" name="Google Shape;454;p15"/>
          <p:cNvSpPr txBox="1"/>
          <p:nvPr/>
        </p:nvSpPr>
        <p:spPr>
          <a:xfrm>
            <a:off x="7936992" y="4496455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Damian Lillard</a:t>
            </a: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7726679" y="4789063"/>
            <a:ext cx="4251960" cy="80467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7726679" y="4789063"/>
            <a:ext cx="73152" cy="80467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 txBox="1"/>
          <p:nvPr/>
        </p:nvSpPr>
        <p:spPr>
          <a:xfrm>
            <a:off x="7936992" y="4834783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Top-Pick Disappointment</a:t>
            </a:r>
            <a:endParaRPr/>
          </a:p>
        </p:txBody>
      </p:sp>
      <p:sp>
        <p:nvSpPr>
          <p:cNvPr id="458" name="Google Shape;458;p15"/>
          <p:cNvSpPr txBox="1"/>
          <p:nvPr/>
        </p:nvSpPr>
        <p:spPr>
          <a:xfrm>
            <a:off x="7936992" y="5154823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n=100  ·  Pick≈10, Salary≈4.4%</a:t>
            </a:r>
            <a:endParaRPr/>
          </a:p>
        </p:txBody>
      </p:sp>
      <p:sp>
        <p:nvSpPr>
          <p:cNvPr id="459" name="Google Shape;459;p15"/>
          <p:cNvSpPr txBox="1"/>
          <p:nvPr/>
        </p:nvSpPr>
        <p:spPr>
          <a:xfrm>
            <a:off x="7936992" y="5365135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Mo Bamba, P. Williams</a:t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7726679" y="5657743"/>
            <a:ext cx="4251960" cy="804672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7726679" y="5657743"/>
            <a:ext cx="73152" cy="80467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 txBox="1"/>
          <p:nvPr/>
        </p:nvSpPr>
        <p:spPr>
          <a:xfrm>
            <a:off x="7936992" y="5703463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Late Play </a:t>
            </a:r>
            <a:r>
              <a:rPr b="1" i="0" lang="en-US" sz="14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Role Players</a:t>
            </a:r>
            <a:endParaRPr/>
          </a:p>
        </p:txBody>
      </p:sp>
      <p:sp>
        <p:nvSpPr>
          <p:cNvPr id="463" name="Google Shape;463;p15"/>
          <p:cNvSpPr txBox="1"/>
          <p:nvPr/>
        </p:nvSpPr>
        <p:spPr>
          <a:xfrm>
            <a:off x="7936992" y="6023503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n=104  ·  Pick≈23, Salary≈2.9%</a:t>
            </a:r>
            <a:endParaRPr/>
          </a:p>
        </p:txBody>
      </p:sp>
      <p:sp>
        <p:nvSpPr>
          <p:cNvPr id="464" name="Google Shape;464;p15"/>
          <p:cNvSpPr txBox="1"/>
          <p:nvPr/>
        </p:nvSpPr>
        <p:spPr>
          <a:xfrm>
            <a:off x="7936992" y="6233815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K. Huerter, J. Allen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6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411480" y="1371600"/>
            <a:ext cx="502920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 txBox="1"/>
          <p:nvPr/>
        </p:nvSpPr>
        <p:spPr>
          <a:xfrm>
            <a:off x="411480" y="14630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914400" y="1371600"/>
            <a:ext cx="11183112" cy="64008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 txBox="1"/>
          <p:nvPr/>
        </p:nvSpPr>
        <p:spPr>
          <a:xfrm>
            <a:off x="1051560" y="14173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Strong Correlation</a:t>
            </a:r>
            <a:endParaRPr/>
          </a:p>
        </p:txBody>
      </p:sp>
      <p:sp>
        <p:nvSpPr>
          <p:cNvPr id="475" name="Google Shape;475;p16"/>
          <p:cNvSpPr txBox="1"/>
          <p:nvPr/>
        </p:nvSpPr>
        <p:spPr>
          <a:xfrm>
            <a:off x="1051560" y="170992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Pearson r = −0.61, Spearman ρ = −0.69 (p &lt; 0.001) — earlier picks earn significantly more</a:t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411480" y="2121408"/>
            <a:ext cx="502920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 txBox="1"/>
          <p:nvPr/>
        </p:nvSpPr>
        <p:spPr>
          <a:xfrm>
            <a:off x="411480" y="221284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8" name="Google Shape;478;p16"/>
          <p:cNvSpPr/>
          <p:nvPr/>
        </p:nvSpPr>
        <p:spPr>
          <a:xfrm>
            <a:off x="914400" y="2121408"/>
            <a:ext cx="11183112" cy="64008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 txBox="1"/>
          <p:nvPr/>
        </p:nvSpPr>
        <p:spPr>
          <a:xfrm>
            <a:off x="1051560" y="2167127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Top-5 Premium</a:t>
            </a:r>
            <a:endParaRPr/>
          </a:p>
        </p:txBody>
      </p:sp>
      <p:sp>
        <p:nvSpPr>
          <p:cNvPr id="480" name="Google Shape;480;p16"/>
          <p:cNvSpPr txBox="1"/>
          <p:nvPr/>
        </p:nvSpPr>
        <p:spPr>
          <a:xfrm>
            <a:off x="1051560" y="245973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Top-5 picks earn 2.7× more than picks 21–30 on their second contract (8.0% vs 2.9% of cap)</a:t>
            </a: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411480" y="2871215"/>
            <a:ext cx="502920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 txBox="1"/>
          <p:nvPr/>
        </p:nvSpPr>
        <p:spPr>
          <a:xfrm>
            <a:off x="411480" y="296265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914400" y="2871215"/>
            <a:ext cx="11183112" cy="64008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 txBox="1"/>
          <p:nvPr/>
        </p:nvSpPr>
        <p:spPr>
          <a:xfrm>
            <a:off x="1051560" y="2916935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Pedigree Effect</a:t>
            </a:r>
            <a:endParaRPr/>
          </a:p>
        </p:txBody>
      </p:sp>
      <p:sp>
        <p:nvSpPr>
          <p:cNvPr id="485" name="Google Shape;485;p16"/>
          <p:cNvSpPr txBox="1"/>
          <p:nvPr/>
        </p:nvSpPr>
        <p:spPr>
          <a:xfrm>
            <a:off x="1051560" y="3209544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overall_pick remains significant (p &lt; 0.001) even after controlling for 7 performance variables in OLS</a:t>
            </a:r>
            <a:endParaRPr/>
          </a:p>
        </p:txBody>
      </p:sp>
      <p:sp>
        <p:nvSpPr>
          <p:cNvPr id="486" name="Google Shape;486;p16"/>
          <p:cNvSpPr/>
          <p:nvPr/>
        </p:nvSpPr>
        <p:spPr>
          <a:xfrm>
            <a:off x="411480" y="3621023"/>
            <a:ext cx="502920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 txBox="1"/>
          <p:nvPr/>
        </p:nvSpPr>
        <p:spPr>
          <a:xfrm>
            <a:off x="411480" y="3712463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914400" y="3621023"/>
            <a:ext cx="11183112" cy="64008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 txBox="1"/>
          <p:nvPr/>
        </p:nvSpPr>
        <p:spPr>
          <a:xfrm>
            <a:off x="1051560" y="366674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Dominant RF Feature</a:t>
            </a:r>
            <a:endParaRPr/>
          </a:p>
        </p:txBody>
      </p:sp>
      <p:sp>
        <p:nvSpPr>
          <p:cNvPr id="490" name="Google Shape;490;p16"/>
          <p:cNvSpPr txBox="1"/>
          <p:nvPr/>
        </p:nvSpPr>
        <p:spPr>
          <a:xfrm>
            <a:off x="1051560" y="3959351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Forest: overall_pick = ~52% of total feature importance — 3× greater than next predictor (PPG)</a:t>
            </a:r>
            <a:endParaRPr/>
          </a:p>
        </p:txBody>
      </p:sp>
      <p:sp>
        <p:nvSpPr>
          <p:cNvPr id="491" name="Google Shape;491;p16"/>
          <p:cNvSpPr/>
          <p:nvPr/>
        </p:nvSpPr>
        <p:spPr>
          <a:xfrm>
            <a:off x="411480" y="4370831"/>
            <a:ext cx="502920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 txBox="1"/>
          <p:nvPr/>
        </p:nvSpPr>
        <p:spPr>
          <a:xfrm>
            <a:off x="411480" y="4462271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914400" y="4370831"/>
            <a:ext cx="11183112" cy="64008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 txBox="1"/>
          <p:nvPr/>
        </p:nvSpPr>
        <p:spPr>
          <a:xfrm>
            <a:off x="1051560" y="4416551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Universal Across Groups</a:t>
            </a:r>
            <a:endParaRPr/>
          </a:p>
        </p:txBody>
      </p:sp>
      <p:sp>
        <p:nvSpPr>
          <p:cNvPr id="495" name="Google Shape;495;p16"/>
          <p:cNvSpPr txBox="1"/>
          <p:nvPr/>
        </p:nvSpPr>
        <p:spPr>
          <a:xfrm>
            <a:off x="1051560" y="4709159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Pick effect holds across all positions &amp; both draft eras; stronger post-2015 cap spike</a:t>
            </a:r>
            <a:endParaRPr/>
          </a:p>
        </p:txBody>
      </p:sp>
      <p:sp>
        <p:nvSpPr>
          <p:cNvPr id="496" name="Google Shape;496;p16"/>
          <p:cNvSpPr/>
          <p:nvPr/>
        </p:nvSpPr>
        <p:spPr>
          <a:xfrm>
            <a:off x="411480" y="5120640"/>
            <a:ext cx="502920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 txBox="1"/>
          <p:nvPr/>
        </p:nvSpPr>
        <p:spPr>
          <a:xfrm>
            <a:off x="411480" y="5212079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98" name="Google Shape;498;p16"/>
          <p:cNvSpPr/>
          <p:nvPr/>
        </p:nvSpPr>
        <p:spPr>
          <a:xfrm>
            <a:off x="914400" y="5120640"/>
            <a:ext cx="11183112" cy="64008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 txBox="1"/>
          <p:nvPr/>
        </p:nvSpPr>
        <p:spPr>
          <a:xfrm>
            <a:off x="1051560" y="5166359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4 Player Archetypes</a:t>
            </a:r>
            <a:endParaRPr/>
          </a:p>
        </p:txBody>
      </p:sp>
      <p:sp>
        <p:nvSpPr>
          <p:cNvPr id="500" name="Google Shape;500;p16"/>
          <p:cNvSpPr txBox="1"/>
          <p:nvPr/>
        </p:nvSpPr>
        <p:spPr>
          <a:xfrm>
            <a:off x="1051560" y="545896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 identifies Top-Pick Stars, Late-Pick Breakouts, and two tiers of Role Players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7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 txBox="1"/>
          <p:nvPr/>
        </p:nvSpPr>
        <p:spPr>
          <a:xfrm>
            <a:off x="411480" y="164592"/>
            <a:ext cx="11365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Implications &amp; Recommendations</a:t>
            </a:r>
            <a:endParaRPr/>
          </a:p>
        </p:txBody>
      </p:sp>
      <p:sp>
        <p:nvSpPr>
          <p:cNvPr id="507" name="Google Shape;507;p17"/>
          <p:cNvSpPr/>
          <p:nvPr/>
        </p:nvSpPr>
        <p:spPr>
          <a:xfrm>
            <a:off x="274320" y="1280160"/>
            <a:ext cx="3794760" cy="38404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 txBox="1"/>
          <p:nvPr/>
        </p:nvSpPr>
        <p:spPr>
          <a:xfrm>
            <a:off x="365760" y="1344168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For General Managers</a:t>
            </a:r>
            <a:endParaRPr/>
          </a:p>
        </p:txBody>
      </p:sp>
      <p:sp>
        <p:nvSpPr>
          <p:cNvPr id="509" name="Google Shape;509;p17"/>
          <p:cNvSpPr/>
          <p:nvPr/>
        </p:nvSpPr>
        <p:spPr>
          <a:xfrm>
            <a:off x="274320" y="1737360"/>
            <a:ext cx="64008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 txBox="1"/>
          <p:nvPr/>
        </p:nvSpPr>
        <p:spPr>
          <a:xfrm>
            <a:off x="420623" y="1773936"/>
            <a:ext cx="354787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Budget top-5 picks as 12-year cap commitments, not just 4</a:t>
            </a:r>
            <a:endParaRPr/>
          </a:p>
        </p:txBody>
      </p:sp>
      <p:sp>
        <p:nvSpPr>
          <p:cNvPr id="511" name="Google Shape;511;p17"/>
          <p:cNvSpPr/>
          <p:nvPr/>
        </p:nvSpPr>
        <p:spPr>
          <a:xfrm>
            <a:off x="274320" y="2450591"/>
            <a:ext cx="64008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 txBox="1"/>
          <p:nvPr/>
        </p:nvSpPr>
        <p:spPr>
          <a:xfrm>
            <a:off x="420623" y="2487168"/>
            <a:ext cx="354787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Picks 16–30 offer the highest cap efficiency per $ invested</a:t>
            </a:r>
            <a:endParaRPr/>
          </a:p>
        </p:txBody>
      </p:sp>
      <p:sp>
        <p:nvSpPr>
          <p:cNvPr id="513" name="Google Shape;513;p17"/>
          <p:cNvSpPr/>
          <p:nvPr/>
        </p:nvSpPr>
        <p:spPr>
          <a:xfrm>
            <a:off x="274320" y="3163824"/>
            <a:ext cx="64008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 txBox="1"/>
          <p:nvPr/>
        </p:nvSpPr>
        <p:spPr>
          <a:xfrm>
            <a:off x="420623" y="3200400"/>
            <a:ext cx="354787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extensions that down-weight pedigree vs. on-court production</a:t>
            </a: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274320" y="3877056"/>
            <a:ext cx="64008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 txBox="1"/>
          <p:nvPr/>
        </p:nvSpPr>
        <p:spPr>
          <a:xfrm>
            <a:off x="420623" y="3913632"/>
            <a:ext cx="354787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Treat underperforming high picks as sell-high assets — market still pays pedigree</a:t>
            </a:r>
            <a:endParaRPr/>
          </a:p>
        </p:txBody>
      </p:sp>
      <p:sp>
        <p:nvSpPr>
          <p:cNvPr id="517" name="Google Shape;517;p17"/>
          <p:cNvSpPr/>
          <p:nvPr/>
        </p:nvSpPr>
        <p:spPr>
          <a:xfrm>
            <a:off x="4251959" y="1280160"/>
            <a:ext cx="3794760" cy="38404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 txBox="1"/>
          <p:nvPr/>
        </p:nvSpPr>
        <p:spPr>
          <a:xfrm>
            <a:off x="4343399" y="1344168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For Coaches</a:t>
            </a:r>
            <a:endParaRPr/>
          </a:p>
        </p:txBody>
      </p:sp>
      <p:sp>
        <p:nvSpPr>
          <p:cNvPr id="519" name="Google Shape;519;p17"/>
          <p:cNvSpPr/>
          <p:nvPr/>
        </p:nvSpPr>
        <p:spPr>
          <a:xfrm>
            <a:off x="4251959" y="1737360"/>
            <a:ext cx="64008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 txBox="1"/>
          <p:nvPr/>
        </p:nvSpPr>
        <p:spPr>
          <a:xfrm>
            <a:off x="4398264" y="1773936"/>
            <a:ext cx="354787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 minutes for late picks are high-ROI for cap value</a:t>
            </a: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4251959" y="2450591"/>
            <a:ext cx="64008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 txBox="1"/>
          <p:nvPr/>
        </p:nvSpPr>
        <p:spPr>
          <a:xfrm>
            <a:off x="4398264" y="2487168"/>
            <a:ext cx="354787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rotation decisions against production, not draft slot</a:t>
            </a:r>
            <a:endParaRPr/>
          </a:p>
        </p:txBody>
      </p:sp>
      <p:sp>
        <p:nvSpPr>
          <p:cNvPr id="523" name="Google Shape;523;p17"/>
          <p:cNvSpPr/>
          <p:nvPr/>
        </p:nvSpPr>
        <p:spPr>
          <a:xfrm>
            <a:off x="4251959" y="3163824"/>
            <a:ext cx="64008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 txBox="1"/>
          <p:nvPr/>
        </p:nvSpPr>
        <p:spPr>
          <a:xfrm>
            <a:off x="4398264" y="3200400"/>
            <a:ext cx="354787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Year 3 is the inflection point — minutes shape extension leverage</a:t>
            </a:r>
            <a:endParaRPr/>
          </a:p>
        </p:txBody>
      </p:sp>
      <p:sp>
        <p:nvSpPr>
          <p:cNvPr id="525" name="Google Shape;525;p17"/>
          <p:cNvSpPr/>
          <p:nvPr/>
        </p:nvSpPr>
        <p:spPr>
          <a:xfrm>
            <a:off x="8229600" y="1280160"/>
            <a:ext cx="3794760" cy="384048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 txBox="1"/>
          <p:nvPr/>
        </p:nvSpPr>
        <p:spPr>
          <a:xfrm>
            <a:off x="8321040" y="1344168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81818"/>
                </a:solidFill>
                <a:latin typeface="Calibri"/>
                <a:ea typeface="Calibri"/>
                <a:cs typeface="Calibri"/>
                <a:sym typeface="Calibri"/>
              </a:rPr>
              <a:t>For Players &amp; Agents</a:t>
            </a:r>
            <a:endParaRPr/>
          </a:p>
        </p:txBody>
      </p:sp>
      <p:sp>
        <p:nvSpPr>
          <p:cNvPr id="527" name="Google Shape;527;p17"/>
          <p:cNvSpPr/>
          <p:nvPr/>
        </p:nvSpPr>
        <p:spPr>
          <a:xfrm>
            <a:off x="8229600" y="1737360"/>
            <a:ext cx="64008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 txBox="1"/>
          <p:nvPr/>
        </p:nvSpPr>
        <p:spPr>
          <a:xfrm>
            <a:off x="8375904" y="1773936"/>
            <a:ext cx="354787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 picks: lead negotiations with BPM/VORP/on-off splits, not counting stats</a:t>
            </a:r>
            <a:endParaRPr/>
          </a:p>
        </p:txBody>
      </p:sp>
      <p:sp>
        <p:nvSpPr>
          <p:cNvPr id="529" name="Google Shape;529;p17"/>
          <p:cNvSpPr/>
          <p:nvPr/>
        </p:nvSpPr>
        <p:spPr>
          <a:xfrm>
            <a:off x="8229600" y="2450591"/>
            <a:ext cx="64008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 txBox="1"/>
          <p:nvPr/>
        </p:nvSpPr>
        <p:spPr>
          <a:xfrm>
            <a:off x="8375904" y="2487168"/>
            <a:ext cx="354787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picks: pedigree pays even at moderate production levels</a:t>
            </a:r>
            <a:endParaRPr/>
          </a:p>
        </p:txBody>
      </p:sp>
      <p:sp>
        <p:nvSpPr>
          <p:cNvPr id="531" name="Google Shape;531;p17"/>
          <p:cNvSpPr/>
          <p:nvPr/>
        </p:nvSpPr>
        <p:spPr>
          <a:xfrm>
            <a:off x="8229600" y="3163824"/>
            <a:ext cx="64008" cy="64008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 txBox="1"/>
          <p:nvPr/>
        </p:nvSpPr>
        <p:spPr>
          <a:xfrm>
            <a:off x="8375904" y="3200400"/>
            <a:ext cx="354787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27% of 1st-round peers never reach a 2nd deal — plan insurance early</a:t>
            </a:r>
            <a:endParaRPr/>
          </a:p>
        </p:txBody>
      </p:sp>
      <p:sp>
        <p:nvSpPr>
          <p:cNvPr id="533" name="Google Shape;533;p17"/>
          <p:cNvSpPr/>
          <p:nvPr/>
        </p:nvSpPr>
        <p:spPr>
          <a:xfrm>
            <a:off x="274320" y="5897880"/>
            <a:ext cx="11640312" cy="77724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 txBox="1"/>
          <p:nvPr/>
        </p:nvSpPr>
        <p:spPr>
          <a:xfrm>
            <a:off x="457200" y="5980176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/>
          </a:p>
        </p:txBody>
      </p:sp>
      <p:sp>
        <p:nvSpPr>
          <p:cNvPr id="535" name="Google Shape;535;p17"/>
          <p:cNvSpPr txBox="1"/>
          <p:nvPr/>
        </p:nvSpPr>
        <p:spPr>
          <a:xfrm>
            <a:off x="2011680" y="5980176"/>
            <a:ext cx="9692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First-round picks only (n=264)  ·  Rookie extensions vs. free-agent deals not separated  ·  27% attrition unmodeled (Heckman correction / survival analysis as future work)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8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8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8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Draft pick is more than a number.</a:t>
            </a:r>
            <a:endParaRPr/>
          </a:p>
        </p:txBody>
      </p:sp>
      <p:sp>
        <p:nvSpPr>
          <p:cNvPr id="542" name="Google Shape;542;p18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It's a financial commitment that outlasts the rookie deal.</a:t>
            </a:r>
            <a:endParaRPr/>
          </a:p>
        </p:txBody>
      </p:sp>
      <p:sp>
        <p:nvSpPr>
          <p:cNvPr id="543" name="Google Shape;543;p18"/>
          <p:cNvSpPr/>
          <p:nvPr/>
        </p:nvSpPr>
        <p:spPr>
          <a:xfrm>
            <a:off x="822960" y="3017520"/>
            <a:ext cx="4114800" cy="45720"/>
          </a:xfrm>
          <a:prstGeom prst="rect">
            <a:avLst/>
          </a:prstGeom>
          <a:solidFill>
            <a:srgbClr val="FF57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8"/>
          <p:cNvSpPr txBox="1"/>
          <p:nvPr/>
        </p:nvSpPr>
        <p:spPr>
          <a:xfrm>
            <a:off x="822960" y="32004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NBA Draft Position &amp; Second Contract Salary</a:t>
            </a:r>
            <a:endParaRPr/>
          </a:p>
        </p:txBody>
      </p:sp>
      <p:sp>
        <p:nvSpPr>
          <p:cNvPr id="545" name="Google Shape;545;p18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DSO 579 — Advanced Sports Performance Analytics  ·  </a:t>
            </a:r>
            <a:r>
              <a:rPr b="0" i="0" lang="en-US" sz="16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Spring 2026  ·  Xinyu Long, Yanbo Zhao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>
              <a:solidFill>
                <a:srgbClr val="9CA3A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0" y="5925312"/>
            <a:ext cx="12188952" cy="932688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8"/>
          <p:cNvSpPr txBox="1"/>
          <p:nvPr/>
        </p:nvSpPr>
        <p:spPr>
          <a:xfrm>
            <a:off x="685800" y="5989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264</a:t>
            </a:r>
            <a:endParaRPr/>
          </a:p>
        </p:txBody>
      </p:sp>
      <p:sp>
        <p:nvSpPr>
          <p:cNvPr id="548" name="Google Shape;548;p18"/>
          <p:cNvSpPr txBox="1"/>
          <p:nvPr/>
        </p:nvSpPr>
        <p:spPr>
          <a:xfrm>
            <a:off x="685800" y="637336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Players</a:t>
            </a:r>
            <a:endParaRPr/>
          </a:p>
        </p:txBody>
      </p:sp>
      <p:sp>
        <p:nvSpPr>
          <p:cNvPr id="549" name="Google Shape;549;p18"/>
          <p:cNvSpPr txBox="1"/>
          <p:nvPr/>
        </p:nvSpPr>
        <p:spPr>
          <a:xfrm>
            <a:off x="2880360" y="5989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r = −0.61</a:t>
            </a:r>
            <a:endParaRPr/>
          </a:p>
        </p:txBody>
      </p:sp>
      <p:sp>
        <p:nvSpPr>
          <p:cNvPr id="550" name="Google Shape;550;p18"/>
          <p:cNvSpPr txBox="1"/>
          <p:nvPr/>
        </p:nvSpPr>
        <p:spPr>
          <a:xfrm>
            <a:off x="2880360" y="637336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Pearson r</a:t>
            </a:r>
            <a:endParaRPr/>
          </a:p>
        </p:txBody>
      </p:sp>
      <p:sp>
        <p:nvSpPr>
          <p:cNvPr id="551" name="Google Shape;551;p18"/>
          <p:cNvSpPr txBox="1"/>
          <p:nvPr/>
        </p:nvSpPr>
        <p:spPr>
          <a:xfrm>
            <a:off x="5074920" y="5989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R² = 0.49</a:t>
            </a:r>
            <a:endParaRPr/>
          </a:p>
        </p:txBody>
      </p:sp>
      <p:sp>
        <p:nvSpPr>
          <p:cNvPr id="552" name="Google Shape;552;p18"/>
          <p:cNvSpPr txBox="1"/>
          <p:nvPr/>
        </p:nvSpPr>
        <p:spPr>
          <a:xfrm>
            <a:off x="5074920" y="637336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OLS R²</a:t>
            </a:r>
            <a:endParaRPr/>
          </a:p>
        </p:txBody>
      </p:sp>
      <p:sp>
        <p:nvSpPr>
          <p:cNvPr id="553" name="Google Shape;553;p18"/>
          <p:cNvSpPr txBox="1"/>
          <p:nvPr/>
        </p:nvSpPr>
        <p:spPr>
          <a:xfrm>
            <a:off x="7269479" y="5989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52%</a:t>
            </a:r>
            <a:endParaRPr/>
          </a:p>
        </p:txBody>
      </p:sp>
      <p:sp>
        <p:nvSpPr>
          <p:cNvPr id="554" name="Google Shape;554;p18"/>
          <p:cNvSpPr txBox="1"/>
          <p:nvPr/>
        </p:nvSpPr>
        <p:spPr>
          <a:xfrm>
            <a:off x="7269479" y="637336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Pick Importance (RF)</a:t>
            </a:r>
            <a:endParaRPr/>
          </a:p>
        </p:txBody>
      </p:sp>
      <p:sp>
        <p:nvSpPr>
          <p:cNvPr id="555" name="Google Shape;555;p18"/>
          <p:cNvSpPr txBox="1"/>
          <p:nvPr/>
        </p:nvSpPr>
        <p:spPr>
          <a:xfrm>
            <a:off x="9464040" y="59893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572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56" name="Google Shape;556;p18"/>
          <p:cNvSpPr txBox="1"/>
          <p:nvPr/>
        </p:nvSpPr>
        <p:spPr>
          <a:xfrm>
            <a:off x="9464040" y="637336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Archetypes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